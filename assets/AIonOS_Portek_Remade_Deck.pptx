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594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E08F"/>
                </a:solidFill>
              </a:rPr>
              <a:t>AIonOS × Portek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6949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 Port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Intelligence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3F8"/>
                </a:solidFill>
              </a:rPr>
              <a:t>Transform fragmented terminal operations into a real-time, predictive, cross-port control layer — without replacing core systems.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95928"/>
            <a:ext cx="2560320" cy="438912"/>
          </a:xfrm>
          <a:prstGeom prst="roundRect">
            <a:avLst>
              <a:gd name="adj" fmla="val 16667"/>
            </a:avLst>
          </a:prstGeom>
          <a:solidFill>
            <a:srgbClr val="0D334F"/>
          </a:solidFill>
          <a:ln w="13970">
            <a:solidFill>
              <a:srgbClr val="59E08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069080"/>
            <a:ext cx="230428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59E08F"/>
                </a:solidFill>
              </a:rPr>
              <a:t>5 Intelligent Decision Systems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58368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BC7"/>
                </a:solidFill>
              </a:rPr>
              <a:t>Prepared for Portek leadership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960120"/>
            <a:ext cx="3383280" cy="4480560"/>
          </a:xfrm>
          <a:prstGeom prst="rect">
            <a:avLst/>
          </a:prstGeom>
          <a:solidFill>
            <a:srgbClr val="092437">
              <a:alpha val="94000"/>
            </a:srgbClr>
          </a:solidFill>
          <a:ln w="12700">
            <a:solidFill>
              <a:srgbClr val="1F526E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4173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071B2D"/>
          </a:solidFill>
          <a:ln w="13970">
            <a:solidFill>
              <a:srgbClr val="3EC7F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1490472"/>
            <a:ext cx="235000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AF3F8"/>
                </a:solidFill>
              </a:rPr>
              <a:t>Control Tower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1000" y="2587752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0D334F"/>
          </a:solidFill>
          <a:ln w="13970">
            <a:solidFill>
              <a:srgbClr val="59E08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2660904"/>
            <a:ext cx="235000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9E08F"/>
                </a:solidFill>
              </a:rPr>
              <a:t>Agentic Twin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3758184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071B2D"/>
          </a:solidFill>
          <a:ln w="13970">
            <a:solidFill>
              <a:srgbClr val="3EC7FF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9016" y="3831336"/>
            <a:ext cx="235000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AF3F8"/>
                </a:solidFill>
              </a:rPr>
              <a:t>Asset Intelligence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1993392"/>
            <a:ext cx="0" cy="548640"/>
          </a:xfrm>
          <a:prstGeom prst="line">
            <a:avLst/>
          </a:prstGeom>
          <a:noFill/>
          <a:ln w="19050">
            <a:solidFill>
              <a:srgbClr val="3EC7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81160" y="3163824"/>
            <a:ext cx="0" cy="548640"/>
          </a:xfrm>
          <a:prstGeom prst="line">
            <a:avLst/>
          </a:prstGeom>
          <a:noFill/>
          <a:ln w="19050">
            <a:solidFill>
              <a:srgbClr val="3EC7FF">
                <a:alpha val="95000"/>
              </a:srgbClr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THE BIG IDEA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every terminal visible, comparable and self-optimising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Portek’s value is constrained less by terminal capability, and more by fragmented operating intelligence across ports.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3319272" cy="2084832"/>
          </a:xfrm>
          <a:prstGeom prst="roundRect">
            <a:avLst>
              <a:gd name="adj" fmla="val 3509"/>
            </a:avLst>
          </a:prstGeom>
          <a:solidFill>
            <a:srgbClr val="092437"/>
          </a:solidFill>
          <a:ln w="15240">
            <a:solidFill>
              <a:srgbClr val="1F526E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 Tower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26334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3F8"/>
                </a:solidFill>
              </a:rPr>
              <a:t>Single live view of vessels, berths, yard, shipments and equipment across regions.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86968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E08F"/>
                </a:solidFill>
              </a:rPr>
              <a:t>Decision latency ↓ 30–50%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1920240"/>
            <a:ext cx="3319272" cy="2084832"/>
          </a:xfrm>
          <a:prstGeom prst="roundRect">
            <a:avLst>
              <a:gd name="adj" fmla="val 3509"/>
            </a:avLst>
          </a:prstGeom>
          <a:solidFill>
            <a:srgbClr val="0D334F"/>
          </a:solidFill>
          <a:ln w="15240">
            <a:solidFill>
              <a:srgbClr val="59E08F">
                <a:alpha val="9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Agentic Twin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26334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3F8"/>
                </a:solidFill>
              </a:rPr>
              <a:t>Simulate berth, crane, yard and dispatch decisions before congestion happens.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0916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E08F"/>
                </a:solidFill>
              </a:rPr>
              <a:t>Dwell time ↓ 20–25%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02752" y="1920240"/>
            <a:ext cx="3319272" cy="2084832"/>
          </a:xfrm>
          <a:prstGeom prst="roundRect">
            <a:avLst>
              <a:gd name="adj" fmla="val 3509"/>
            </a:avLst>
          </a:prstGeom>
          <a:solidFill>
            <a:srgbClr val="092437"/>
          </a:solidFill>
          <a:ln w="15240">
            <a:solidFill>
              <a:srgbClr val="1F526E">
                <a:alpha val="9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148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Asset Intelligence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31352" y="26334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3F8"/>
                </a:solidFill>
              </a:rPr>
              <a:t>Predict crane and equipment risk, standardise maintenance and reduce unplanned downtime.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531352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9E08F"/>
                </a:solidFill>
              </a:rPr>
              <a:t>Availability ↑ 10–15%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4407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E08F"/>
                </a:solidFill>
              </a:rPr>
              <a:t>Transformation 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7731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3F8"/>
                </a:solidFill>
              </a:rPr>
              <a:t>From “manual reporting by terminal” to an AI-powered port operating layer that senses, predicts and recommends / executes actions.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52360" y="4572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E08F"/>
                </a:solidFill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52360" y="49560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9BBC7"/>
                </a:solidFill>
              </a:rPr>
              <a:t>source of truth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531352" y="4572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E08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31352" y="49560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9BBC7"/>
                </a:solidFill>
              </a:rPr>
              <a:t>priority use cases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610344" y="4572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7FF"/>
                </a:solidFill>
              </a:rPr>
              <a:t>90d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10344" y="49560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9BBC7"/>
                </a:solidFill>
              </a:rPr>
              <a:t>pilot proof point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0689336" y="4572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E08F"/>
                </a:solidFill>
              </a:rPr>
              <a:t>18m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689336" y="49560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9BBC7"/>
                </a:solidFill>
              </a:rPr>
              <a:t>autonomous scale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STARTING POINT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port know-how, but distributed data gravity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The opportunity is not “new IT”; it is cross-port operating leverage.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E08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Global multi-terminal footprint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258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BC7"/>
                </a:solidFill>
              </a:rPr>
              <a:t>Singapore HQ; terminals / projects across Indonesia, Africa, Europe and Vietnam.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1874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E08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Asset-intensive operations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25856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BC7"/>
                </a:solidFill>
              </a:rPr>
              <a:t>Cranes, yards, berths and handling equipment drive throughput and cost.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E08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Semi-independent local systems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84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BC7"/>
                </a:solidFill>
              </a:rPr>
              <a:t>Vessel, yard, shipment and engineering data remain dispersed by location.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E08F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3172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HQ visibility gap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584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BBC7"/>
                </a:solidFill>
              </a:rPr>
              <a:t>Manual reconciliation slows decisions and prevents cross-port benchmarking.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4828032"/>
            <a:ext cx="10241280" cy="822960"/>
          </a:xfrm>
          <a:prstGeom prst="roundRect">
            <a:avLst>
              <a:gd name="adj" fmla="val 8889"/>
            </a:avLst>
          </a:prstGeom>
          <a:solidFill>
            <a:srgbClr val="0D334F"/>
          </a:solidFill>
          <a:ln w="15240">
            <a:solidFill>
              <a:srgbClr val="59E0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5102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Pain point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501091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unified, real-time shipment / vessel / asset view across ports.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TARGET STATE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port intelligence layer above existing systems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Keep Portek’s local systems. Add a governed intelligence layer that standardises data, predicts risk and orchestrates action.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92437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130552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EAF3F8"/>
                </a:solidFill>
              </a:rPr>
              <a:t>TOS / Vessel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92437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2130552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EAF3F8"/>
                </a:solidFill>
              </a:rPr>
              <a:t>Yard / Gate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16636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92437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2130552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EAF3F8"/>
                </a:solidFill>
              </a:rPr>
              <a:t>Equipment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40664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92437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2130552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EAF3F8"/>
                </a:solidFill>
              </a:rPr>
              <a:t>Engineering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64692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092437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4936" y="2130552"/>
            <a:ext cx="157276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EAF3F8"/>
                </a:solidFill>
              </a:rPr>
              <a:t>Finance / Commercial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971800" y="27889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A9BBC7"/>
                </a:solidFill>
              </a:rPr>
              <a:t>connected local systems feed a single governed intelligence core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794760" y="3246120"/>
            <a:ext cx="4617720" cy="1143000"/>
          </a:xfrm>
          <a:prstGeom prst="roundRect">
            <a:avLst>
              <a:gd name="adj" fmla="val 8000"/>
            </a:avLst>
          </a:prstGeom>
          <a:solidFill>
            <a:srgbClr val="0D334F"/>
          </a:solidFill>
          <a:ln w="19050">
            <a:solidFill>
              <a:srgbClr val="59E0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45643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AIonOS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Port Intelligence Core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051560" y="5074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71B2D"/>
          </a:solidFill>
          <a:ln w="13970">
            <a:solidFill>
              <a:srgbClr val="3EC7F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5148072"/>
            <a:ext cx="17099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3F8"/>
                </a:solidFill>
              </a:rPr>
              <a:t>Integrate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94760" y="5074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71B2D"/>
          </a:solidFill>
          <a:ln w="13970">
            <a:solidFill>
              <a:srgbClr val="3EC7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22776" y="5148072"/>
            <a:ext cx="17099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3F8"/>
                </a:solidFill>
              </a:rPr>
              <a:t>Standardise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5074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71B2D"/>
          </a:solidFill>
          <a:ln w="13970">
            <a:solidFill>
              <a:srgbClr val="3EC7F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5148072"/>
            <a:ext cx="17099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F3F8"/>
                </a:solidFill>
              </a:rPr>
              <a:t>Predict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81160" y="5074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71B2D"/>
          </a:solidFill>
          <a:ln w="13970">
            <a:solidFill>
              <a:srgbClr val="59E08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9176" y="5148072"/>
            <a:ext cx="17099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USE CASE PRIORITIES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use cases to pilot fast — and scale across regions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Each use case can start narrow, prove operational lift, then replicate across terminals.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58368" y="1865376"/>
            <a:ext cx="5029200" cy="1115568"/>
          </a:xfrm>
          <a:prstGeom prst="roundRect">
            <a:avLst>
              <a:gd name="adj" fmla="val 5738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029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E08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Cross-port visibility cockpit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1435608" y="2340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BBC7"/>
                </a:solidFill>
              </a:rPr>
              <a:t>Vessels, berths, yard inventory, equipment availability.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1435608" y="2651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59E08F"/>
                </a:solidFill>
              </a:rPr>
              <a:t>Reporting effort ↓ 50–70%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254496" y="1865376"/>
            <a:ext cx="5029200" cy="1115568"/>
          </a:xfrm>
          <a:prstGeom prst="roundRect">
            <a:avLst>
              <a:gd name="adj" fmla="val 5738"/>
            </a:avLst>
          </a:prstGeom>
          <a:solidFill>
            <a:srgbClr val="0D334F"/>
          </a:solidFill>
          <a:ln w="13970">
            <a:solidFill>
              <a:srgbClr val="59E0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029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E08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31736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Berth + crane scheduling twin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7031736" y="2340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BBC7"/>
                </a:solidFill>
              </a:rPr>
              <a:t>Predict congestion and reallocate berth windows / crane gangs.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031736" y="2651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59E08F"/>
                </a:solidFill>
              </a:rPr>
              <a:t>Crane productivity ↑ 10–15%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58368" y="3465576"/>
            <a:ext cx="5029200" cy="1115568"/>
          </a:xfrm>
          <a:prstGeom prst="roundRect">
            <a:avLst>
              <a:gd name="adj" fmla="val 5738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630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E08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35608" y="3630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Yard + dispatch orchestrator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1435608" y="39410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BBC7"/>
                </a:solidFill>
              </a:rPr>
              <a:t>Resequence trucks / rail loads against live ETAs and customs cut-offs.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1435608" y="4251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59E08F"/>
                </a:solidFill>
              </a:rPr>
              <a:t>Port dwell ↓ 20–25%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254496" y="3465576"/>
            <a:ext cx="5029200" cy="1115568"/>
          </a:xfrm>
          <a:prstGeom prst="roundRect">
            <a:avLst>
              <a:gd name="adj" fmla="val 5738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3630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E08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31736" y="3630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Equipment reliability AI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7031736" y="39410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BBC7"/>
                </a:solidFill>
              </a:rPr>
              <a:t>Predict crane / handling equipment failure and plan parts / maintenance.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7031736" y="42519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59E08F"/>
                </a:solidFill>
              </a:rPr>
              <a:t>Unplanned downtime ↓ 15–20%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685800" y="56235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A9BBC7"/>
                </a:solidFill>
              </a:rPr>
              <a:t>Visual reference: AIonOS yard automation / vision-agent capability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 once, operate many terminals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Reference architecture for a scalable Portek data foundation.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 Connect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578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MCP adapters for TOS, ERP, yard, vessel, engineering and spreadsheets.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9E08F"/>
                </a:solidFill>
              </a:rPr>
              <a:t>Connector live &lt; 2 weeks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880360" y="2788920"/>
            <a:ext cx="502920" cy="0"/>
          </a:xfrm>
          <a:prstGeom prst="line">
            <a:avLst/>
          </a:prstGeom>
          <a:noFill/>
          <a:ln w="19050">
            <a:solidFill>
              <a:srgbClr val="3EC7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0440" y="18745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2. Govern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85032" y="2578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Unified data model, RBAC, audit trails and access controls.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85032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9E08F"/>
                </a:solidFill>
              </a:rPr>
              <a:t>100% data access audited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669280" y="2788920"/>
            <a:ext cx="502920" cy="0"/>
          </a:xfrm>
          <a:prstGeom prst="line">
            <a:avLst/>
          </a:prstGeom>
          <a:noFill/>
          <a:ln w="19050">
            <a:solidFill>
              <a:srgbClr val="3EC7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8745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092437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 Sense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3952" y="2578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Real-time streams and data products for agents and analytics.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73952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9E08F"/>
                </a:solidFill>
              </a:rPr>
              <a:t>Data freshness &lt; 5 min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458200" y="2788920"/>
            <a:ext cx="502920" cy="0"/>
          </a:xfrm>
          <a:prstGeom prst="line">
            <a:avLst/>
          </a:prstGeom>
          <a:noFill/>
          <a:ln w="19050">
            <a:solidFill>
              <a:srgbClr val="3EC7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1874520"/>
            <a:ext cx="2331720" cy="1828800"/>
          </a:xfrm>
          <a:prstGeom prst="roundRect">
            <a:avLst>
              <a:gd name="adj" fmla="val 4500"/>
            </a:avLst>
          </a:prstGeom>
          <a:solidFill>
            <a:srgbClr val="0D334F"/>
          </a:solidFill>
          <a:ln w="13970">
            <a:solidFill>
              <a:srgbClr val="59E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287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4. 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62872" y="2578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Agentic workflows for berth, yard, dispatch and maintenance.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62872" y="32735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9E08F"/>
                </a:solidFill>
              </a:rPr>
              <a:t>Response latency &lt; 120 sec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508760" y="4617720"/>
            <a:ext cx="9144000" cy="786384"/>
          </a:xfrm>
          <a:prstGeom prst="roundRect">
            <a:avLst>
              <a:gd name="adj" fmla="val 10465"/>
            </a:avLst>
          </a:prstGeom>
          <a:solidFill>
            <a:srgbClr val="071B2D"/>
          </a:solidFill>
          <a:ln w="13970">
            <a:solidFill>
              <a:srgbClr val="59E0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490118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Outcome: one Portek data foundation for HQ visibility and terminal-level autonomy.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VALUE CASE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Measurable business outcomes, not “AI experiments”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Target KPIs should be baselined in the 90-day pilot, then managed as a global operating scorecard.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speed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359152"/>
            <a:ext cx="1645920" cy="0"/>
          </a:xfrm>
          <a:prstGeom prst="line">
            <a:avLst/>
          </a:prstGeom>
          <a:noFill/>
          <a:ln w="25400">
            <a:solidFill>
              <a:srgbClr val="3EC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BC7"/>
                </a:solidFill>
              </a:rPr>
              <a:t>Manual reports → live insights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AF3F8"/>
                </a:solidFill>
              </a:rPr>
              <a:t>30–50% faster HQ decisions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2898648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Throughput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98648" y="2359152"/>
            <a:ext cx="1645920" cy="0"/>
          </a:xfrm>
          <a:prstGeom prst="line">
            <a:avLst/>
          </a:prstGeom>
          <a:noFill/>
          <a:ln w="25400">
            <a:solidFill>
              <a:srgbClr val="3EC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8648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BC7"/>
                </a:solidFill>
              </a:rPr>
              <a:t>Berth / crane / yard constraints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2898648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AF3F8"/>
                </a:solidFill>
              </a:rPr>
              <a:t>10–15% productivity uplift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5202936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Dwell &amp; SLA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02936" y="2359152"/>
            <a:ext cx="1645920" cy="0"/>
          </a:xfrm>
          <a:prstGeom prst="line">
            <a:avLst/>
          </a:prstGeom>
          <a:noFill/>
          <a:ln w="25400">
            <a:solidFill>
              <a:srgbClr val="59E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02936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BC7"/>
                </a:solidFill>
              </a:rPr>
              <a:t>Waiting, rehandles, cut-off misses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5202936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59E08F"/>
                </a:solidFill>
              </a:rPr>
              <a:t>20–25% dwell reduction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7507224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Asset uptime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07224" y="2359152"/>
            <a:ext cx="1645920" cy="0"/>
          </a:xfrm>
          <a:prstGeom prst="line">
            <a:avLst/>
          </a:prstGeom>
          <a:noFill/>
          <a:ln w="25400">
            <a:solidFill>
              <a:srgbClr val="3EC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BC7"/>
                </a:solidFill>
              </a:rPr>
              <a:t>Crane / equipment failures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7507224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AF3F8"/>
                </a:solidFill>
              </a:rPr>
              <a:t>15–20% downtime reduction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9811512" y="19933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Commercial control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11512" y="2359152"/>
            <a:ext cx="1645920" cy="0"/>
          </a:xfrm>
          <a:prstGeom prst="line">
            <a:avLst/>
          </a:prstGeom>
          <a:noFill/>
          <a:ln w="25400">
            <a:solidFill>
              <a:srgbClr val="3EC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261518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BC7"/>
                </a:solidFill>
              </a:rPr>
              <a:t>Fragmented charges / leakage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9811512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EAF3F8"/>
                </a:solidFill>
              </a:rPr>
              <a:t>1–2% billable event capture</a:t>
            </a:r>
            <a:endParaRPr lang="en-US" sz="1520" dirty="0"/>
          </a:p>
        </p:txBody>
      </p:sp>
      <p:sp>
        <p:nvSpPr>
          <p:cNvPr id="30" name="Shape 28"/>
          <p:cNvSpPr/>
          <p:nvPr/>
        </p:nvSpPr>
        <p:spPr>
          <a:xfrm>
            <a:off x="1874520" y="4800600"/>
            <a:ext cx="8366760" cy="713232"/>
          </a:xfrm>
          <a:prstGeom prst="roundRect">
            <a:avLst>
              <a:gd name="adj" fmla="val 11538"/>
            </a:avLst>
          </a:prstGeom>
          <a:solidFill>
            <a:srgbClr val="0D334F"/>
          </a:solidFill>
          <a:ln w="13970">
            <a:solidFill>
              <a:srgbClr val="1F52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50474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Management lens: one dashboard, four controllable levers — visibility, throughput, uptime, cash.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 | Business outcomes transformation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438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E08F"/>
                </a:solidFill>
              </a:rPr>
              <a:t>IMPLEMENTATION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76809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narrow, prove ROI, then industrialise across ports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5216" y="1316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A9BBC7"/>
                </a:solidFill>
              </a:rPr>
              <a:t>A pragmatic roadmap that keeps local terminal context intact.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E08F"/>
                </a:solidFill>
              </a:rPr>
              <a:t>0–4 weeks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Discover + baseline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Map systems, KPIs, data fields and 1–2 pilot terminals.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092437"/>
          </a:solidFill>
          <a:ln w="12700">
            <a:solidFill>
              <a:srgbClr val="1F52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867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EAF3F8"/>
                </a:solidFill>
              </a:rPr>
              <a:t>Validated data map + pilot KPI baseline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926080" y="2852928"/>
            <a:ext cx="457200" cy="0"/>
          </a:xfrm>
          <a:prstGeom prst="line">
            <a:avLst/>
          </a:prstGeom>
          <a:noFill/>
          <a:ln w="19050">
            <a:solidFill>
              <a:srgbClr val="59E08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20440" y="1920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E08F"/>
                </a:solidFill>
              </a:rPr>
              <a:t>5–12 weeks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Control tower MVP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2044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Unified vessel / shipment / equipment dashboard with GenBI interface.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3822192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0D334F"/>
          </a:solidFill>
          <a:ln w="12700">
            <a:solidFill>
              <a:srgbClr val="59E0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9867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EAF3F8"/>
                </a:solidFill>
              </a:rPr>
              <a:t>Live cross-port cockpit + exception triage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715000" y="2852928"/>
            <a:ext cx="457200" cy="0"/>
          </a:xfrm>
          <a:prstGeom prst="line">
            <a:avLst/>
          </a:prstGeom>
          <a:noFill/>
          <a:ln w="19050">
            <a:solidFill>
              <a:srgbClr val="59E08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309360" y="1920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E08F"/>
                </a:solidFill>
              </a:rPr>
              <a:t>3–9 months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Agentic optimisation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Berth, crane, yard and dispatch twins with human-in-loop actions.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3822192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092437"/>
          </a:solidFill>
          <a:ln w="12700">
            <a:solidFill>
              <a:srgbClr val="1F52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9867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EAF3F8"/>
                </a:solidFill>
              </a:rPr>
              <a:t>Dwell, productivity and uptime improvements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503920" y="2852928"/>
            <a:ext cx="457200" cy="0"/>
          </a:xfrm>
          <a:prstGeom prst="line">
            <a:avLst/>
          </a:prstGeom>
          <a:noFill/>
          <a:ln w="19050">
            <a:solidFill>
              <a:srgbClr val="59E08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098280" y="1920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E08F"/>
                </a:solidFill>
              </a:rPr>
              <a:t>9–18 months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98280" y="22677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Autonomous scale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09828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BBC7"/>
                </a:solidFill>
              </a:rPr>
              <a:t>Replication playbook across regions, best-practice benchmarking and agents.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98280" y="3822192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092437"/>
          </a:solidFill>
          <a:ln w="12700">
            <a:solidFill>
              <a:srgbClr val="1F52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39867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EAF3F8"/>
                </a:solidFill>
              </a:rPr>
              <a:t>Portek operating intelligence layer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1143000" y="528523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EAF3F8"/>
                </a:solidFill>
              </a:rPr>
              <a:t>Principle: no rip-and-replace. Build an AI orchestration layer that preserves existing systems while creating network-level leverage.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9006840" y="182880"/>
            <a:ext cx="2606040" cy="2606040"/>
          </a:xfrm>
          <a:prstGeom prst="arc">
            <a:avLst/>
          </a:prstGeom>
          <a:solidFill>
            <a:srgbClr val="071B2D">
              <a:alpha val="0"/>
            </a:srgbClr>
          </a:solidFill>
          <a:ln w="20320">
            <a:solidFill>
              <a:srgbClr val="3EC7F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256032" y="4645152"/>
            <a:ext cx="1783080" cy="1783080"/>
          </a:xfrm>
          <a:prstGeom prst="arc">
            <a:avLst/>
          </a:prstGeom>
          <a:solidFill>
            <a:srgbClr val="071B2D">
              <a:alpha val="0"/>
            </a:srgbClr>
          </a:solidFill>
          <a:ln w="17780">
            <a:solidFill>
              <a:srgbClr val="59E08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AIonOS × Portek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B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Recommended next move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143000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a 90-day Portek Control Tower + Agentic Twin pilot across 1–2 terminals.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Decision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24871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</a:rPr>
              <a:t>Select pilot terminal(s) + executive sponsor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323697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</a:rPr>
              <a:t>Confirm TOS / yard / vessel / engineering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867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KPI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9867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</a:rPr>
              <a:t>Baseline dwell, crane productivity, equipment uptime, reporting effort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736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E08F"/>
                </a:solidFill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4736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8"/>
                </a:solidFill>
              </a:rPr>
              <a:t>Deploy MVP cockpit + exception playbooks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11430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0D334F"/>
          </a:solidFill>
          <a:ln w="17780">
            <a:solidFill>
              <a:srgbClr val="59E0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691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E08F"/>
                </a:solidFill>
              </a:rPr>
              <a:t>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22860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Portek becomes a learning port network — every terminal improves every other terminal.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65008" y="3794760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071B2D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867912"/>
            <a:ext cx="2286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AF3F8"/>
                </a:solidFill>
              </a:rPr>
              <a:t>HQ visibility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065008" y="4297680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071B2D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4370832"/>
            <a:ext cx="2286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AF3F8"/>
                </a:solidFill>
              </a:rPr>
              <a:t>Terminal autonomy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065008" y="4800600"/>
            <a:ext cx="2542032" cy="310896"/>
          </a:xfrm>
          <a:prstGeom prst="roundRect">
            <a:avLst>
              <a:gd name="adj" fmla="val 23529"/>
            </a:avLst>
          </a:prstGeom>
          <a:solidFill>
            <a:srgbClr val="071B2D"/>
          </a:solidFill>
          <a:ln w="13970">
            <a:solidFill>
              <a:srgbClr val="1F526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4873752"/>
            <a:ext cx="2286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AF3F8"/>
                </a:solidFill>
              </a:rPr>
              <a:t>Network benchmarking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AIonOS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AIonOS x Portek Autonomous Port Network Intelligence</dc:title>
  <dc:subject>AIonOS x Portek Business Outcomes Transformation</dc:subject>
  <dc:creator>AIonOS</dc:creator>
  <cp:lastModifiedBy>AIonOS</cp:lastModifiedBy>
  <cp:revision>1</cp:revision>
  <dcterms:created xsi:type="dcterms:W3CDTF">2026-04-26T13:48:50Z</dcterms:created>
  <dcterms:modified xsi:type="dcterms:W3CDTF">2026-04-26T13:48:50Z</dcterms:modified>
</cp:coreProperties>
</file>